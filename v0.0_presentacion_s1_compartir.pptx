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75" r:id="rId13"/>
    <p:sldId id="267" r:id="rId14"/>
    <p:sldId id="273" r:id="rId15"/>
    <p:sldId id="274" r:id="rId16"/>
    <p:sldId id="268" r:id="rId17"/>
    <p:sldId id="276" r:id="rId18"/>
    <p:sldId id="277" r:id="rId19"/>
    <p:sldId id="278" r:id="rId20"/>
    <p:sldId id="280" r:id="rId21"/>
    <p:sldId id="279" r:id="rId22"/>
    <p:sldId id="281" r:id="rId23"/>
    <p:sldId id="270" r:id="rId24"/>
    <p:sldId id="271" r:id="rId2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8" autoAdjust="0"/>
    <p:restoredTop sz="94610"/>
  </p:normalViewPr>
  <p:slideViewPr>
    <p:cSldViewPr snapToGrid="0" snapToObjects="1">
      <p:cViewPr>
        <p:scale>
          <a:sx n="44" d="100"/>
          <a:sy n="44" d="100"/>
        </p:scale>
        <p:origin x="120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89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38CB-EADB-3B27-23B3-4E0EA6B2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41DAB-B06E-216B-F04E-0D132C129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4A7CA-0BAE-A3CD-8B87-60F8FD9F5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D3309-0130-6C0A-3926-D0DBF0086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27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36D4-A50A-DB31-5CC8-785FC3E0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4FDF2-62AF-1DA8-D0C1-2DF84EB9D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B153E-9B80-7260-A520-03EBAB607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BCC7E-0D30-EB02-41E9-7C129D0DD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94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807A-A80B-8CCA-36A9-352536E0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0171F-E8CB-6DFB-D125-D62FA5542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B3C5F-7482-E0A5-8365-154E7FDCA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35D98-475C-831F-7334-B8F421447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16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508CD-3002-80E0-A531-FFD3FF46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CFE96-21C6-5F6D-B390-764294558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80669-9D14-D3D4-38C8-8E4596255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B602A-71F8-9661-A645-8CA3C6174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46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586F-4555-BB6E-D64C-06F9CFE7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2C635-B790-6D2C-1C6E-84EBDB2DB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32776-12AF-D37C-9A6B-724FB3B8B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5FD91-942C-39AF-B4C3-26BC91B1C4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48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F411-0622-493D-1612-26DCCFC3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C8D1F-ECBC-34F0-41B3-0B576C1D3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0EFF3-B532-416E-A63A-4153089A8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3A521-D423-7F51-76CF-BCE320CA5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80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EA515-EE9B-6D2C-9858-60D60A93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D3EAD-92BE-5EBD-A592-EE00022D7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71036-884A-AB0E-E05E-8ECD0823E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45AF-8F3E-AF56-DA43-8212E5991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081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48E9-7830-B5FC-CA30-1B311E3A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DA2B0-AD64-64C0-53FE-30D40AFE2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4584E-DF6A-B5B5-158B-5C2D3BB33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14AC6-E4E9-8268-B035-ACD829238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39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0799-9150-5646-709C-E306B7F2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EDFFC-ECE6-5D3A-A36B-545119EE7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4A340-E782-78D5-F5D9-D3D6401C3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6E264-B082-3F2F-7488-B96427655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384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5012B-6A33-C47E-8D05-E29A638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55309-D58C-1CDF-3C84-87BDCA5C9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A354D-FD02-A8BD-6EDB-C7C68366A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F463E-3A5A-69E3-06D0-BEDB52576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3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— Especialización en Analítica de Datos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1 · 4 horas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Datos y Gerencia de la Información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curso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0195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Datos y Gerencia de la Información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Sneyder García Morantes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espanaliticadatos.ssemestre@unaula.edu.co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958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770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5:00–9:00 p.m.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Sábados 8:00 a.m.–12:00 p.m.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010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(procesamiento y limpieza) · Streamlit (tableros) · Power BI / Tableau / Data Studio (por definir)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5046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Teórico-práctico, proyecto en paralelo a los contenidos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2/16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del curso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visualización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técnicas según su tipo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de la información y preparación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gráficos efectivos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avanzada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Cuadros de mando interactivos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asistida por IA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y responsabilidad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3/16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FAAFA1-C22E-81B1-AF1B-7B2C25F90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924" y="1554480"/>
            <a:ext cx="6873836" cy="33302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63F41-A4AA-3AB4-8ED5-61F941B7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0D997E9-0603-48CF-A261-E5043DE947A6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389693-96E2-3887-FA7D-9C2385AD75AC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3/16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9D8C0A9-5284-D1D2-249F-A2780EF96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45543"/>
            <a:ext cx="11149998" cy="4166914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E72CB636-287B-BEEA-7858-A8048D2771C2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del curso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46576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clase: California Housing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que uso en las demostraciones de cada sesión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censales de California: ubicación, ingreso, valor de vivienda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fila por bloque, foto fija, sin jerarquía geográfica ni componente temporal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aprenden la técnica antes de aplicarla al proyecto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4/16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estudio: CONECTA S.A… Lo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convencieron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5/16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E67B73-523D-71D6-7C6B-BD567622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1372698"/>
            <a:ext cx="7331075" cy="294919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788885-F5FC-968C-AF40-4D66A24FE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429" y="4321894"/>
            <a:ext cx="7216765" cy="85351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8002534-FDE4-ADEB-BCF8-A82621F2C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487" y="5253130"/>
            <a:ext cx="7407282" cy="1143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Por qué visualizamos datos — percepción, comunicación, decisión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Figuras feas, malas y erróneas — criterios de diagnóstico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Mapeo de datos sobre aesthetics — tipos de dato y escalas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Sistemas de coordenadas — cartesianos, no lineales, curvos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Taller práctico — diagnóstico de figuras reales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6/16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visualizamos datos?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 procesa patrones visuales miles de veces más rápido que tablas de números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visualización revela tendencias, anomalías, relaciones y distribuciones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decoración: es una herramienta de análisis y de comunicación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misma figura puede informar o desinformar, según cómo se construya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7/16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del analista de datos en CONECTA S.A.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S.A.: 4.2M usuarios, 5 regiones de Colombia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semana el equipo de analítica presenta hallazgos a gerencia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forma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mueva a la acción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curso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onstruir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8/16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formas en que una figura falla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3108960" cy="1554480"/>
          </a:xfrm>
          <a:prstGeom prst="roundRect">
            <a:avLst>
              <a:gd name="adj" fmla="val 7059"/>
            </a:avLst>
          </a:prstGeom>
          <a:solidFill>
            <a:srgbClr val="EEF0FD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
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estético.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pero incomoda.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3146942"/>
            <a:ext cx="3108960" cy="1554480"/>
          </a:xfrm>
          <a:prstGeom prst="roundRect">
            <a:avLst>
              <a:gd name="adj" fmla="val 7059"/>
            </a:avLst>
          </a:prstGeom>
          <a:solidFill>
            <a:srgbClr val="EEF0FD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328410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
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diseño.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 la lectura.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817481"/>
            <a:ext cx="3108960" cy="1554480"/>
          </a:xfrm>
          <a:prstGeom prst="roundRect">
            <a:avLst>
              <a:gd name="adj" fmla="val 705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05840" y="4954641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Errónea
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datos.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algo falso.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64282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1 — solo la tercera categoría es un problema grave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9/16</a:t>
            </a:r>
            <a:endParaRPr lang="en-US" sz="9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921933C-A203-4960-918E-E7904E760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239" y="1282973"/>
            <a:ext cx="4764515" cy="3565456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AA4D4F62-2DF9-0800-E842-2DEDE4A5F92A}"/>
              </a:ext>
            </a:extLst>
          </p:cNvPr>
          <p:cNvSpPr/>
          <p:nvPr/>
        </p:nvSpPr>
        <p:spPr>
          <a:xfrm>
            <a:off x="4434840" y="4894149"/>
            <a:ext cx="7388225" cy="177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figura fea sigue siendo honesta: solo poco pulida (colores, tipografía)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figura mala elige mal el tipo de gráfico o satura de elementos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figura errónea es la más peligrosa: engaña aunque se vea profesional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comunes de error: ejes truncados, escalas no lineales sin aviso, proporciones distorsionadas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677" y="502920"/>
            <a:ext cx="1165508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3000" b="1" dirty="0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Visualizando datos: mapeando datos a </a:t>
            </a:r>
            <a:r>
              <a:rPr lang="es-CO" sz="3000" b="1" dirty="0" err="1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aesthetic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40677" y="1554480"/>
            <a:ext cx="4831383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aesthetic es cualquier propiedad visual que puede representar un dato: posición, color, forma, tamaño
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tipo de dato exige un mapeo distinto:
</a:t>
            </a:r>
            <a:endParaRPr lang="en-US" sz="1800" dirty="0"/>
          </a:p>
          <a:p>
            <a:pPr marL="457200" indent="-457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 → posición, longitud</a:t>
            </a:r>
            <a:endParaRPr lang="en-US" sz="1800" dirty="0"/>
          </a:p>
          <a:p>
            <a:pPr marL="457200" indent="-457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Categórico → color, forma</a:t>
            </a:r>
            <a:endParaRPr lang="en-US" sz="1800" dirty="0"/>
          </a:p>
          <a:p>
            <a:pPr marL="457200" indent="-457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→ intensidad de color,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mal el aesthetic es la causa más común de una figura mala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11/16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45C053E-5602-0653-BEA8-C8615DEE8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60" y="2039112"/>
            <a:ext cx="7216765" cy="32006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4C83-A323-09F3-F20A-8A5CAD57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932A8A-8EEE-70A9-3549-DDB91B63BE53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3000" b="1" dirty="0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Visualizando datos: mapeando datos a </a:t>
            </a:r>
            <a:r>
              <a:rPr lang="es-CO" sz="3000" b="1" dirty="0" err="1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aesthetic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84C146-4AEA-4EAC-A051-17612A3C55C2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65E4C2-4AB3-CCBA-5861-154AD5EFE527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11/16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D4C045F-B05C-C7C2-8510-F2E4DC016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21" y="1276054"/>
            <a:ext cx="6856686" cy="507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7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3000" b="1" dirty="0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Las escalas mapean valores de datos a </a:t>
            </a:r>
            <a:r>
              <a:rPr lang="es-CO" sz="3000" b="1" dirty="0" err="1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aesthetics</a:t>
            </a:r>
            <a:endParaRPr lang="es-CO" sz="3000" b="1" dirty="0">
              <a:solidFill>
                <a:srgbClr val="4F46E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Lineal: distancias iguales representan diferencias iguales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Logarítmica: útil para datos con rangos muy amplios (ej. usuarios por región)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Categórica: sin orden implícito entre valores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de escala sin avisar es una fuente común de figuras erróneas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12/16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78E544-4BC0-24C5-FFC9-FC3C13616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823" y="3749040"/>
            <a:ext cx="7369179" cy="2019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2802-94D1-60BD-B22E-E71E7175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AF4E13-7DFB-ED03-050F-4A3391232C17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3000" b="1" dirty="0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Las escalas mapean valores de datos a </a:t>
            </a:r>
            <a:r>
              <a:rPr lang="es-CO" sz="3000" b="1" dirty="0" err="1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aesthetics</a:t>
            </a:r>
            <a:endParaRPr lang="es-CO" sz="3000" b="1" dirty="0">
              <a:solidFill>
                <a:srgbClr val="4F46E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3B348D-FDC8-3032-9E5D-7EC9C8D90207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6C86F1-8FEB-09DB-6200-D34C79C1ECE6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12/16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BE7C742-E54D-3296-48C7-71B36B2D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87607"/>
            <a:ext cx="5463284" cy="29531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4DA9981-CF2E-DEA0-DFD1-64A1DBCE0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767" y="2285913"/>
            <a:ext cx="6370981" cy="228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63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DC3E-BC38-4F90-E24C-F90A8917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7B5E09-A28F-08F2-2A70-F87216ECD6E8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3000" b="1" dirty="0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Las escalas mapean valores de datos a </a:t>
            </a:r>
            <a:r>
              <a:rPr lang="es-CO" sz="3000" b="1" dirty="0" err="1">
                <a:solidFill>
                  <a:srgbClr val="4F46E5"/>
                </a:solidFill>
                <a:latin typeface="Arial" pitchFamily="34" charset="0"/>
                <a:cs typeface="Arial" pitchFamily="34" charset="-120"/>
              </a:rPr>
              <a:t>aesthetics</a:t>
            </a:r>
            <a:endParaRPr lang="es-CO" sz="3000" b="1" dirty="0">
              <a:solidFill>
                <a:srgbClr val="4F46E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2E6784-8871-9006-D584-32A889D99129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9EBF87-7905-A6D4-5C7A-21E6572D2855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12/16</a:t>
            </a:r>
            <a:endParaRPr lang="en-US" sz="9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A5BA26-68D7-C52E-756B-70B42D222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030" y="1234440"/>
            <a:ext cx="6471341" cy="484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07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38088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Cartesiano: el más común, dos ejes perpendiculares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lineal: ejes logarítmicos o de potencia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Curvo / polar: gráficos de radar, coordenadas polares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sistema de coordenadas cambia por completo cómo se percibe el mismo dato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13/16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792DE4-A019-9A74-EFE8-39B45DFC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03" y="502920"/>
            <a:ext cx="3018458" cy="251254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03822B0-FC61-0DE0-1711-DEF608FC5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3066743"/>
            <a:ext cx="4829851" cy="36815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A261F-1F29-61BA-D301-32316C4E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C3ECA3-2FF7-E4DF-B51C-90E9F88ACA7C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66CB79-5E1D-408E-6B8B-2E77B033996E}"/>
              </a:ext>
            </a:extLst>
          </p:cNvPr>
          <p:cNvSpPr/>
          <p:nvPr/>
        </p:nvSpPr>
        <p:spPr>
          <a:xfrm>
            <a:off x="640080" y="1554480"/>
            <a:ext cx="38088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Cartesiano: el más común, dos ejes perpendiculares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lineal: ejes logarítmicos o de potencia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Curvo / polar: gráficos de radar, coordenadas polares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sistema de coordenadas cambia por completo cómo se percibe el mismo dato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4E9251-26B1-773C-AC24-5920F4970AFA}"/>
              </a:ext>
            </a:extLst>
          </p:cNvPr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92DA81-609C-9E25-F31D-3619EA358A7E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67279C-B5F5-D2CD-D77B-B7885A6A73C7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13/16</a:t>
            </a:r>
            <a:endParaRPr lang="en-US" sz="9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45291BD-B3F9-A4A7-501E-25AAF4164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783" y="1427922"/>
            <a:ext cx="6834984" cy="400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02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8F8EC-5BB0-CEA4-0137-58DE275B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73C1FF-7FE8-67A2-A9BD-E980A6424198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A48A90-2478-F0B2-577C-ECD81AF2B6C8}"/>
              </a:ext>
            </a:extLst>
          </p:cNvPr>
          <p:cNvSpPr/>
          <p:nvPr/>
        </p:nvSpPr>
        <p:spPr>
          <a:xfrm>
            <a:off x="640080" y="1554480"/>
            <a:ext cx="38088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Cartesiano: el más común, dos ejes perpendiculares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lineal: ejes logarítmicos o de potencia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Curvo / polar: gráficos de radar, coordenadas polares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sistema de coordenadas cambia por completo cómo se percibe el mismo dato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421A1E-C9DC-A8D0-7A78-9BEFB8691163}"/>
              </a:ext>
            </a:extLst>
          </p:cNvPr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04F8A8-D2D5-387A-277E-828C156E22BA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A253E3-9BA2-FF81-F0FA-99BA202B65A0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13/16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E6C61D8-035D-2297-8C5F-4A2168F66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08" y="1192308"/>
            <a:ext cx="7468247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00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F2389-5412-6B1F-6199-E5302127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872A15-03FE-65A5-9655-81A17516842D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5F32FC-9CA0-FD26-099B-33AE843AFB03}"/>
              </a:ext>
            </a:extLst>
          </p:cNvPr>
          <p:cNvSpPr/>
          <p:nvPr/>
        </p:nvSpPr>
        <p:spPr>
          <a:xfrm>
            <a:off x="640080" y="1554480"/>
            <a:ext cx="38088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Cartesiano: el más común, dos ejes perpendiculares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lineal: ejes logarítmicos o de potencia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Curvo / polar: gráficos de radar, coordenadas polares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sistema de coordenadas cambia por completo cómo se percibe el mismo dato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916757-9782-E1CB-A596-1C1A316E661E}"/>
              </a:ext>
            </a:extLst>
          </p:cNvPr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F4434E-3436-7181-797F-4C4A74BA2596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6563AEC-5B8F-0749-D5A9-5A698B9BF185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13/16</a:t>
            </a:r>
            <a:endParaRPr lang="en-US" sz="9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09A956D-97C5-50C7-1909-26C30FC31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75" y="1234440"/>
            <a:ext cx="6835070" cy="43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48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000B-B493-43BC-3D18-D9B6EACD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B85FD7-0059-1F9F-26CD-5DE20F700646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88C74F-AB8B-FE18-2F83-49F4D95C6A73}"/>
              </a:ext>
            </a:extLst>
          </p:cNvPr>
          <p:cNvSpPr/>
          <p:nvPr/>
        </p:nvSpPr>
        <p:spPr>
          <a:xfrm>
            <a:off x="640080" y="1554480"/>
            <a:ext cx="38088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Cartesiano: el más común, dos ejes perpendiculares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lineal: ejes logarítmicos o de potencia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Curvo / polar: gráficos de radar, coordenadas polares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sistema de coordenadas cambia por completo cómo se percibe el mismo dato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A65023-AE27-E0DF-5E9D-5D7A2C885088}"/>
              </a:ext>
            </a:extLst>
          </p:cNvPr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897DD1-5906-0F40-94CF-C9DCDE9382E3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9FDBEF-268E-9544-147F-1FED4AA9C1DE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13/16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70118FF-6E63-B2ED-EE29-AD0252C06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08" y="1403230"/>
            <a:ext cx="7521592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36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B3D83-CFA1-0B46-6B82-90DE182E4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9E8CDE-C74E-0232-5778-409FD2162C5F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72D92C-A1AA-AC16-4424-17720D738629}"/>
              </a:ext>
            </a:extLst>
          </p:cNvPr>
          <p:cNvSpPr/>
          <p:nvPr/>
        </p:nvSpPr>
        <p:spPr>
          <a:xfrm>
            <a:off x="640080" y="1554480"/>
            <a:ext cx="38088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Cartesiano: el más común, dos ejes perpendiculares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lineal: ejes logarítmicos o de potencia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Curvo / polar: gráficos de radar, coordenadas polares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sistema de coordenadas cambia por completo cómo se percibe el mismo dato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0A65A8-D534-0D50-96C5-0B82A1455F9D}"/>
              </a:ext>
            </a:extLst>
          </p:cNvPr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05196B-9B43-400A-5026-E51EF0AC1C68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8685FD-B3E3-FF6C-06A1-D7F1965E1AFB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13/16</a:t>
            </a:r>
            <a:endParaRPr lang="en-US" sz="9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CD5A96C-8772-4524-A8D1-25C849080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497" y="1490472"/>
            <a:ext cx="6893248" cy="38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63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B8E9B-6EE2-D37B-BBB3-365EE96B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96C2D7-F4DC-D213-1CB8-ABD808500F28}"/>
              </a:ext>
            </a:extLst>
          </p:cNvPr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</a:t>
            </a: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3000" b="1" dirty="0" err="1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09FD2F-B4D6-4CEC-2B02-2601781A6154}"/>
              </a:ext>
            </a:extLst>
          </p:cNvPr>
          <p:cNvSpPr/>
          <p:nvPr/>
        </p:nvSpPr>
        <p:spPr>
          <a:xfrm>
            <a:off x="640080" y="1554480"/>
            <a:ext cx="38088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Cartesiano: el más común, dos ejes perpendiculares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lineal: ejes logarítmicos o de potencia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Curvo / polar: gráficos de radar, coordenadas polares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sistema de coordenadas cambia por completo cómo se percibe el mismo dato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7285D9-BFB5-EE04-93AE-1F6ED2BCE761}"/>
              </a:ext>
            </a:extLst>
          </p:cNvPr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 (2019), Cap. 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ABF9FE-DE6A-534A-7449-894873FAE71C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E06BF0-D7A7-D23E-E77A-FE5ACF80BBDA}"/>
              </a:ext>
            </a:extLst>
          </p:cNvPr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13/16</a:t>
            </a:r>
            <a:endParaRPr lang="en-US" sz="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FB35704-6649-F3E5-92FB-0174A80C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911" y="1314243"/>
            <a:ext cx="6332769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66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concepto a la práctica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aplicamos estos criterios a figuras reales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equipos: diagnóstico + propuesta de corrección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documento del taller: Taller S1, Diagnóstico de Figuras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15/16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Wilke, C. O. (2019). Fundamentals of Data Visualization. O'Reilly Media. Cap. 1-3 </a:t>
            </a:r>
            <a:r>
              <a:rPr lang="en-US" sz="14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https://clauswilke.com/dataviz/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UNAULA  ·  Visualización de Datos y Gerencia de la Información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16/16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982EA1BB817245900D4F21332AF77D" ma:contentTypeVersion="0" ma:contentTypeDescription="Crear nuevo documento." ma:contentTypeScope="" ma:versionID="1242a4b506290e010ff96c09205f78d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037ac2621b9b9c8cd06b50fac5857c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8B469E-24FB-4BD0-A85A-47E79C24AB9E}"/>
</file>

<file path=customXml/itemProps2.xml><?xml version="1.0" encoding="utf-8"?>
<ds:datastoreItem xmlns:ds="http://schemas.openxmlformats.org/officeDocument/2006/customXml" ds:itemID="{066E40E8-5F82-4F7B-AA25-1008A9609F92}"/>
</file>

<file path=customXml/itemProps3.xml><?xml version="1.0" encoding="utf-8"?>
<ds:datastoreItem xmlns:ds="http://schemas.openxmlformats.org/officeDocument/2006/customXml" ds:itemID="{DC2FA7E1-71C1-41FA-AE59-094C09B22260}"/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1394</Words>
  <Application>Microsoft Office PowerPoint</Application>
  <PresentationFormat>Personalizado</PresentationFormat>
  <Paragraphs>200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Lizeth Tatiana Bautista Perez</cp:lastModifiedBy>
  <cp:revision>3</cp:revision>
  <dcterms:created xsi:type="dcterms:W3CDTF">2026-07-31T20:46:45Z</dcterms:created>
  <dcterms:modified xsi:type="dcterms:W3CDTF">2026-07-31T21:34:06Z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0x0101001B982EA1BB817245900D4F21332AF77D</vt:lpwstr>
  </property>
</Properties>
</file>